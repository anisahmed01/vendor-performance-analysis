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70" r:id="rId12"/>
    <p:sldId id="271" r:id="rId13"/>
    <p:sldId id="272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s Ahmed" userId="e4908aaeb61151f3" providerId="LiveId" clId="{78CF1511-76BF-4808-8B4D-D90D65B1409D}"/>
    <pc:docChg chg="custSel modSld modMainMaster modShowInfo">
      <pc:chgData name="Anis Ahmed" userId="e4908aaeb61151f3" providerId="LiveId" clId="{78CF1511-76BF-4808-8B4D-D90D65B1409D}" dt="2026-02-01T21:26:18.448" v="99" actId="2744"/>
      <pc:docMkLst>
        <pc:docMk/>
      </pc:docMkLst>
      <pc:sldChg chg="addSp modSp mod modTransition">
        <pc:chgData name="Anis Ahmed" userId="e4908aaeb61151f3" providerId="LiveId" clId="{78CF1511-76BF-4808-8B4D-D90D65B1409D}" dt="2026-02-01T21:26:09.269" v="98"/>
        <pc:sldMkLst>
          <pc:docMk/>
          <pc:sldMk cId="1208474723" sldId="256"/>
        </pc:sldMkLst>
        <pc:spChg chg="mod">
          <ac:chgData name="Anis Ahmed" userId="e4908aaeb61151f3" providerId="LiveId" clId="{78CF1511-76BF-4808-8B4D-D90D65B1409D}" dt="2026-02-01T21:12:25.524" v="12" actId="1076"/>
          <ac:spMkLst>
            <pc:docMk/>
            <pc:sldMk cId="1208474723" sldId="256"/>
            <ac:spMk id="5" creationId="{03683F64-C64F-F25D-1815-A9FC0E368B7E}"/>
          </ac:spMkLst>
        </pc:spChg>
        <pc:spChg chg="add mod">
          <ac:chgData name="Anis Ahmed" userId="e4908aaeb61151f3" providerId="LiveId" clId="{78CF1511-76BF-4808-8B4D-D90D65B1409D}" dt="2026-02-01T21:15:05.851" v="30" actId="108"/>
          <ac:spMkLst>
            <pc:docMk/>
            <pc:sldMk cId="1208474723" sldId="256"/>
            <ac:spMk id="6" creationId="{509632CC-7029-6655-C158-52BAB5386A98}"/>
          </ac:spMkLst>
        </pc:spChg>
      </pc:sldChg>
      <pc:sldChg chg="modSp mod modTransition">
        <pc:chgData name="Anis Ahmed" userId="e4908aaeb61151f3" providerId="LiveId" clId="{78CF1511-76BF-4808-8B4D-D90D65B1409D}" dt="2026-02-01T21:26:09.269" v="98"/>
        <pc:sldMkLst>
          <pc:docMk/>
          <pc:sldMk cId="1787091543" sldId="258"/>
        </pc:sldMkLst>
        <pc:spChg chg="mod">
          <ac:chgData name="Anis Ahmed" userId="e4908aaeb61151f3" providerId="LiveId" clId="{78CF1511-76BF-4808-8B4D-D90D65B1409D}" dt="2026-02-01T21:17:00.740" v="46" actId="14100"/>
          <ac:spMkLst>
            <pc:docMk/>
            <pc:sldMk cId="1787091543" sldId="258"/>
            <ac:spMk id="6" creationId="{33EBF341-5F6A-3AD6-A04B-573ADD16795D}"/>
          </ac:spMkLst>
        </pc:spChg>
      </pc:sldChg>
      <pc:sldChg chg="modSp mod modTransition">
        <pc:chgData name="Anis Ahmed" userId="e4908aaeb61151f3" providerId="LiveId" clId="{78CF1511-76BF-4808-8B4D-D90D65B1409D}" dt="2026-02-01T21:26:09.269" v="98"/>
        <pc:sldMkLst>
          <pc:docMk/>
          <pc:sldMk cId="308203392" sldId="259"/>
        </pc:sldMkLst>
        <pc:spChg chg="mod">
          <ac:chgData name="Anis Ahmed" userId="e4908aaeb61151f3" providerId="LiveId" clId="{78CF1511-76BF-4808-8B4D-D90D65B1409D}" dt="2026-02-01T21:17:58.718" v="51" actId="1076"/>
          <ac:spMkLst>
            <pc:docMk/>
            <pc:sldMk cId="308203392" sldId="259"/>
            <ac:spMk id="2" creationId="{0081B479-0F0D-317D-F952-D9BFBB681673}"/>
          </ac:spMkLst>
        </pc:spChg>
      </pc:sldChg>
      <pc:sldChg chg="addSp modSp mod modTransition modAnim">
        <pc:chgData name="Anis Ahmed" userId="e4908aaeb61151f3" providerId="LiveId" clId="{78CF1511-76BF-4808-8B4D-D90D65B1409D}" dt="2026-02-01T21:26:09.269" v="98"/>
        <pc:sldMkLst>
          <pc:docMk/>
          <pc:sldMk cId="1747891223" sldId="260"/>
        </pc:sldMkLst>
        <pc:picChg chg="add mod">
          <ac:chgData name="Anis Ahmed" userId="e4908aaeb61151f3" providerId="LiveId" clId="{78CF1511-76BF-4808-8B4D-D90D65B1409D}" dt="2026-02-01T21:20:41.775" v="62" actId="1076"/>
          <ac:picMkLst>
            <pc:docMk/>
            <pc:sldMk cId="1747891223" sldId="260"/>
            <ac:picMk id="3" creationId="{7CD6DA2A-E408-24C5-E602-E2E7309869E2}"/>
          </ac:picMkLst>
        </pc:picChg>
        <pc:picChg chg="add mod">
          <ac:chgData name="Anis Ahmed" userId="e4908aaeb61151f3" providerId="LiveId" clId="{78CF1511-76BF-4808-8B4D-D90D65B1409D}" dt="2026-02-01T21:20:56.077" v="65" actId="1076"/>
          <ac:picMkLst>
            <pc:docMk/>
            <pc:sldMk cId="1747891223" sldId="260"/>
            <ac:picMk id="7" creationId="{18402DA4-DC8A-D186-4B11-3BC34AC96777}"/>
          </ac:picMkLst>
        </pc:picChg>
        <pc:picChg chg="add mod">
          <ac:chgData name="Anis Ahmed" userId="e4908aaeb61151f3" providerId="LiveId" clId="{78CF1511-76BF-4808-8B4D-D90D65B1409D}" dt="2026-02-01T21:20:39.663" v="61" actId="1076"/>
          <ac:picMkLst>
            <pc:docMk/>
            <pc:sldMk cId="1747891223" sldId="260"/>
            <ac:picMk id="9" creationId="{99D159D7-E91A-C9CC-D735-BBB52AF3F3CC}"/>
          </ac:picMkLst>
        </pc:picChg>
        <pc:picChg chg="add mod">
          <ac:chgData name="Anis Ahmed" userId="e4908aaeb61151f3" providerId="LiveId" clId="{78CF1511-76BF-4808-8B4D-D90D65B1409D}" dt="2026-02-01T21:20:45.052" v="63" actId="1076"/>
          <ac:picMkLst>
            <pc:docMk/>
            <pc:sldMk cId="1747891223" sldId="260"/>
            <ac:picMk id="11" creationId="{59A51295-153A-A1E1-E0B1-D8A199D2B2A5}"/>
          </ac:picMkLst>
        </pc:picChg>
        <pc:picChg chg="add mod">
          <ac:chgData name="Anis Ahmed" userId="e4908aaeb61151f3" providerId="LiveId" clId="{78CF1511-76BF-4808-8B4D-D90D65B1409D}" dt="2026-02-01T21:20:59.742" v="66" actId="1076"/>
          <ac:picMkLst>
            <pc:docMk/>
            <pc:sldMk cId="1747891223" sldId="260"/>
            <ac:picMk id="13" creationId="{B71F88F7-4126-938C-223C-9E0C15B28233}"/>
          </ac:picMkLst>
        </pc:picChg>
      </pc:sldChg>
      <pc:sldChg chg="modTransition modAnim">
        <pc:chgData name="Anis Ahmed" userId="e4908aaeb61151f3" providerId="LiveId" clId="{78CF1511-76BF-4808-8B4D-D90D65B1409D}" dt="2026-02-01T21:26:09.269" v="98"/>
        <pc:sldMkLst>
          <pc:docMk/>
          <pc:sldMk cId="2972598959" sldId="261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445021585" sldId="262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3037344102" sldId="263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2917842086" sldId="264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2143756974" sldId="265"/>
        </pc:sldMkLst>
      </pc:sldChg>
      <pc:sldChg chg="modTransition modAnim">
        <pc:chgData name="Anis Ahmed" userId="e4908aaeb61151f3" providerId="LiveId" clId="{78CF1511-76BF-4808-8B4D-D90D65B1409D}" dt="2026-02-01T21:26:09.269" v="98"/>
        <pc:sldMkLst>
          <pc:docMk/>
          <pc:sldMk cId="1063790445" sldId="267"/>
        </pc:sldMkLst>
      </pc:sldChg>
      <pc:sldChg chg="modTransition modAnim">
        <pc:chgData name="Anis Ahmed" userId="e4908aaeb61151f3" providerId="LiveId" clId="{78CF1511-76BF-4808-8B4D-D90D65B1409D}" dt="2026-02-01T21:26:09.269" v="98"/>
        <pc:sldMkLst>
          <pc:docMk/>
          <pc:sldMk cId="1949193988" sldId="270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2242572281" sldId="271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8378418" sldId="272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2002444262" sldId="274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3461323711" sldId="275"/>
        </pc:sldMkLst>
      </pc:sldChg>
      <pc:sldChg chg="modTransition">
        <pc:chgData name="Anis Ahmed" userId="e4908aaeb61151f3" providerId="LiveId" clId="{78CF1511-76BF-4808-8B4D-D90D65B1409D}" dt="2026-02-01T21:26:09.269" v="98"/>
        <pc:sldMkLst>
          <pc:docMk/>
          <pc:sldMk cId="2729038138" sldId="276"/>
        </pc:sldMkLst>
      </pc:sldChg>
      <pc:sldMasterChg chg="modTransition modSldLayout">
        <pc:chgData name="Anis Ahmed" userId="e4908aaeb61151f3" providerId="LiveId" clId="{78CF1511-76BF-4808-8B4D-D90D65B1409D}" dt="2026-02-01T21:26:09.269" v="98"/>
        <pc:sldMasterMkLst>
          <pc:docMk/>
          <pc:sldMasterMk cId="1989849986" sldId="2147483962"/>
        </pc:sldMasterMkLst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3988401469" sldId="2147483963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012013801" sldId="2147483964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3032701555" sldId="2147483965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671941023" sldId="2147483966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504260967" sldId="2147483967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3851309506" sldId="2147483968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888470402" sldId="2147483969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1778601436" sldId="2147483970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680054931" sldId="2147483971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3329291520" sldId="2147483972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107679349" sldId="2147483973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212802511" sldId="2147483974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1904825765" sldId="2147483975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51534787" sldId="2147483976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808266362" sldId="2147483977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1447069347" sldId="2147483978"/>
          </pc:sldLayoutMkLst>
        </pc:sldLayoutChg>
        <pc:sldLayoutChg chg="modTransition">
          <pc:chgData name="Anis Ahmed" userId="e4908aaeb61151f3" providerId="LiveId" clId="{78CF1511-76BF-4808-8B4D-D90D65B1409D}" dt="2026-02-01T21:26:09.269" v="98"/>
          <pc:sldLayoutMkLst>
            <pc:docMk/>
            <pc:sldMasterMk cId="1989849986" sldId="2147483962"/>
            <pc:sldLayoutMk cId="2734529871" sldId="214748397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014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013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01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41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2609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09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70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6014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54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291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79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12802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25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34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266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069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29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6CB45-B4F2-4DEC-96EF-964C25E06BD0}" type="datetimeFigureOut">
              <a:rPr lang="en-US" smtClean="0"/>
              <a:t>01-Feb-26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85C86-A379-4DE0-B61A-DF90017B1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499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63" r:id="rId1"/>
    <p:sldLayoutId id="2147483964" r:id="rId2"/>
    <p:sldLayoutId id="2147483965" r:id="rId3"/>
    <p:sldLayoutId id="2147483966" r:id="rId4"/>
    <p:sldLayoutId id="2147483967" r:id="rId5"/>
    <p:sldLayoutId id="2147483968" r:id="rId6"/>
    <p:sldLayoutId id="2147483969" r:id="rId7"/>
    <p:sldLayoutId id="2147483970" r:id="rId8"/>
    <p:sldLayoutId id="2147483971" r:id="rId9"/>
    <p:sldLayoutId id="2147483972" r:id="rId10"/>
    <p:sldLayoutId id="2147483973" r:id="rId11"/>
    <p:sldLayoutId id="2147483974" r:id="rId12"/>
    <p:sldLayoutId id="2147483975" r:id="rId13"/>
    <p:sldLayoutId id="2147483976" r:id="rId14"/>
    <p:sldLayoutId id="2147483977" r:id="rId15"/>
    <p:sldLayoutId id="2147483978" r:id="rId16"/>
    <p:sldLayoutId id="2147483979" r:id="rId17"/>
  </p:sldLayoutIdLst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951FF9-7E33-7E31-29B3-9480915EE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23087"/>
            <a:ext cx="10353761" cy="707571"/>
          </a:xfrm>
        </p:spPr>
        <p:txBody>
          <a:bodyPr>
            <a:normAutofit fontScale="90000"/>
          </a:bodyPr>
          <a:lstStyle/>
          <a:p>
            <a:r>
              <a:rPr lang="en-US" dirty="0"/>
              <a:t>Vendor Performance Optimization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683F64-C64F-F25D-1815-A9FC0E368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5117" y="1246665"/>
            <a:ext cx="5891114" cy="40440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i="1" dirty="0"/>
              <a:t>Bibitor LLC – Wine &amp; Spirits Inventory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632CC-7029-6655-C158-52BAB5386A98}"/>
              </a:ext>
            </a:extLst>
          </p:cNvPr>
          <p:cNvSpPr txBox="1"/>
          <p:nvPr/>
        </p:nvSpPr>
        <p:spPr>
          <a:xfrm>
            <a:off x="913794" y="1817842"/>
            <a:ext cx="998166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End-to-End, Database-Driven Analytics Project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Project Context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dirty="0"/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Data fetched directly from a </a:t>
            </a:r>
            <a:r>
              <a:rPr lang="en-US" b="1" dirty="0"/>
              <a:t>MySQL database</a:t>
            </a:r>
            <a:r>
              <a:rPr lang="en-US" dirty="0"/>
              <a:t> to simulate real-world analytical workflows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SQL</a:t>
            </a:r>
            <a:r>
              <a:rPr lang="en-US" dirty="0"/>
              <a:t> used for data extraction, aggregation, and creation of analytical tables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Python</a:t>
            </a:r>
            <a:r>
              <a:rPr lang="en-US" dirty="0"/>
              <a:t> (pandas, NumPy, statistics) used for data cleaning, feature engineering, EDA, and statistical analysis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Power BI</a:t>
            </a:r>
            <a:r>
              <a:rPr lang="en-US" dirty="0"/>
              <a:t> used for interactive visualization and business reporting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Nature of the Project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Designed as a real-world simulation, not a static dataset exercise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b="1" dirty="0"/>
              <a:t>Covers the full analytics lifecycle:</a:t>
            </a:r>
            <a:br>
              <a:rPr lang="en-US" b="1" dirty="0"/>
            </a:br>
            <a:r>
              <a:rPr lang="en-US" b="1" dirty="0"/>
              <a:t>Database → Analysis → Insights →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4747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C1185-06A9-65DC-F267-170FCB272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9127D1-E275-9A0C-AC5E-A826A5106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Business Problem &amp; Objective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3EBF341-5F6A-3AD6-A04B-573ADD1679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60727" y="1563308"/>
            <a:ext cx="8943834" cy="400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1" defTabSz="45720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b="1" dirty="0"/>
              <a:t>Bibitor LLC manages thousands of vendor–brand combinations across purchases, sales, and inventory</a:t>
            </a:r>
          </a:p>
          <a:p>
            <a:pPr marR="0" lvl="1" defTabSz="45720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b="1" dirty="0"/>
              <a:t>Key challenges:</a:t>
            </a:r>
          </a:p>
          <a:p>
            <a:pPr marL="1200150" lvl="2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/>
              <a:t>Which vendors and brands truly drive revenue?</a:t>
            </a:r>
          </a:p>
          <a:p>
            <a:pPr marL="1200150" lvl="2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/>
              <a:t>Where is profit coming from vs volume?</a:t>
            </a:r>
          </a:p>
          <a:p>
            <a:pPr marL="1200150" lvl="2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altLang="en-US" sz="1800" b="1" dirty="0"/>
              <a:t>How much capital is locked in unsold inventory?</a:t>
            </a:r>
          </a:p>
          <a:p>
            <a:pPr marR="0" lvl="1" defTabSz="457200" fontAlgn="base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altLang="en-US" sz="2000" b="1" dirty="0"/>
              <a:t>Goal: optimize profitability, purchasing efficiency, and inventory utilization</a:t>
            </a:r>
          </a:p>
        </p:txBody>
      </p:sp>
    </p:spTree>
    <p:extLst>
      <p:ext uri="{BB962C8B-B14F-4D97-AF65-F5344CB8AC3E}">
        <p14:creationId xmlns:p14="http://schemas.microsoft.com/office/powerpoint/2010/main" val="1787091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DF3F-2BFB-A138-FB5B-79E9A36B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FB63F-289B-8F67-53C7-039BED40C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Data Overview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81B479-0F0D-317D-F952-D9BFBB6816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39957" y="1997839"/>
            <a:ext cx="831208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marR="0" lvl="1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/>
              <a:t>Dataset size: 10,692 vendor–brand records</a:t>
            </a:r>
          </a:p>
          <a:p>
            <a:pPr marL="742950" marR="0" lvl="1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/>
              <a:t>Integrated operational data:</a:t>
            </a:r>
          </a:p>
          <a:p>
            <a:pPr marL="742950" marR="0" lvl="1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/>
              <a:t>Purchases, sales, pricing, freight, inventory</a:t>
            </a:r>
          </a:p>
          <a:p>
            <a:pPr marL="742950" marR="0" lvl="1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/>
              <a:t>Final dataset built at Vendor–Brand level</a:t>
            </a:r>
          </a:p>
          <a:p>
            <a:pPr marL="742950" marR="0" lvl="1" indent="-285750" defTabSz="457200" fontAlgn="base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/>
              <a:t>Used for performance, profitability, and risk analysis</a:t>
            </a:r>
          </a:p>
        </p:txBody>
      </p:sp>
    </p:spTree>
    <p:extLst>
      <p:ext uri="{BB962C8B-B14F-4D97-AF65-F5344CB8AC3E}">
        <p14:creationId xmlns:p14="http://schemas.microsoft.com/office/powerpoint/2010/main" val="3082033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00CD-3AE0-51D3-ABF1-1FEC4A8A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054466-139D-4319-7DBB-DA069E91C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Metrics Engineered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A7F9CF-E270-73F5-0C74-561FEA124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957943"/>
            <a:ext cx="4654493" cy="5649685"/>
          </a:xfrm>
        </p:spPr>
        <p:txBody>
          <a:bodyPr>
            <a:normAutofit/>
          </a:bodyPr>
          <a:lstStyle/>
          <a:p>
            <a:r>
              <a:rPr lang="en-US" b="1" dirty="0"/>
              <a:t>Total Sales</a:t>
            </a:r>
          </a:p>
          <a:p>
            <a:r>
              <a:rPr lang="en-US" b="1" dirty="0"/>
              <a:t>Gross Profit</a:t>
            </a:r>
            <a:r>
              <a:rPr lang="en-US" dirty="0"/>
              <a:t> </a:t>
            </a:r>
          </a:p>
          <a:p>
            <a:r>
              <a:rPr lang="en-US" b="1" dirty="0"/>
              <a:t>Avg Profit Margin (%)</a:t>
            </a:r>
            <a:endParaRPr lang="en-US" dirty="0"/>
          </a:p>
          <a:p>
            <a:r>
              <a:rPr lang="en-US" b="1" dirty="0"/>
              <a:t>Total Purchase Amount</a:t>
            </a:r>
            <a:endParaRPr lang="en-US" dirty="0"/>
          </a:p>
          <a:p>
            <a:r>
              <a:rPr lang="en-US" b="1" dirty="0"/>
              <a:t>Unsold Inventory Value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dirty="0"/>
              <a:t>These metrics enabled multi-angle performance evaluation.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D6DA2A-E408-24C5-E602-E2E730986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590" y="1015100"/>
            <a:ext cx="2600688" cy="1257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402DA4-DC8A-D186-4B11-3BC34AC9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116" y="2416543"/>
            <a:ext cx="2591162" cy="1219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9D159D7-E91A-C9CC-D735-BBB52AF3F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052" y="1015100"/>
            <a:ext cx="2600688" cy="12003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9A51295-153A-A1E1-E0B1-D8A199D2B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999" y="2416543"/>
            <a:ext cx="2619741" cy="12670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1F88F7-4126-938C-223C-9E0C15B28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9040" y="3924389"/>
            <a:ext cx="2572109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891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58E8-030F-D8B3-FC33-A6AAB519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1FC285-5D45-AEE9-45F2-C83958D3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Initial Data Insights (EDA)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88A77CB-3DA7-95A2-B01B-2E3C669553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957943"/>
            <a:ext cx="3453490" cy="5210845"/>
          </a:xfrm>
        </p:spPr>
        <p:txBody>
          <a:bodyPr>
            <a:normAutofit/>
          </a:bodyPr>
          <a:lstStyle/>
          <a:p>
            <a:r>
              <a:rPr lang="en-US" b="1" dirty="0"/>
              <a:t>Losses exist</a:t>
            </a:r>
            <a:r>
              <a:rPr lang="en-US" dirty="0"/>
              <a:t>:</a:t>
            </a:r>
          </a:p>
          <a:p>
            <a:pPr lvl="1"/>
            <a:r>
              <a:rPr lang="en-US" sz="1600" dirty="0"/>
              <a:t>Gross Profit min = </a:t>
            </a:r>
            <a:r>
              <a:rPr lang="en-US" sz="1600" b="1" dirty="0"/>
              <a:t>–$52,002</a:t>
            </a:r>
            <a:endParaRPr lang="en-US" sz="1600" dirty="0"/>
          </a:p>
          <a:p>
            <a:pPr lvl="1"/>
            <a:r>
              <a:rPr lang="en-US" sz="1600" dirty="0"/>
              <a:t>Profit Margin ranges down to </a:t>
            </a:r>
            <a:r>
              <a:rPr lang="en-US" sz="1600" b="1" dirty="0"/>
              <a:t>–23,730%</a:t>
            </a:r>
            <a:endParaRPr lang="en-US" sz="1600" dirty="0"/>
          </a:p>
          <a:p>
            <a:r>
              <a:rPr lang="en-US" b="1" dirty="0"/>
              <a:t>Zero sales observed</a:t>
            </a:r>
            <a:r>
              <a:rPr lang="en-US" dirty="0"/>
              <a:t>:</a:t>
            </a:r>
          </a:p>
          <a:p>
            <a:pPr lvl="1"/>
            <a:r>
              <a:rPr lang="en-US" sz="1600" dirty="0"/>
              <a:t>Some products purchased but never sold</a:t>
            </a:r>
          </a:p>
          <a:p>
            <a:r>
              <a:rPr lang="en-US" dirty="0"/>
              <a:t>Indicates:</a:t>
            </a:r>
          </a:p>
          <a:p>
            <a:pPr lvl="1"/>
            <a:r>
              <a:rPr lang="en-US" sz="1600" dirty="0"/>
              <a:t>Pricing issues</a:t>
            </a:r>
          </a:p>
          <a:p>
            <a:pPr lvl="1"/>
            <a:r>
              <a:rPr lang="en-US" sz="1600" dirty="0"/>
              <a:t>Overstocking</a:t>
            </a:r>
          </a:p>
          <a:p>
            <a:pPr lvl="1"/>
            <a:r>
              <a:rPr lang="en-US" sz="1600" dirty="0"/>
              <a:t>Slow-moving or obsolete inventory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6C0D60-6619-8B1E-BC08-81D6CB093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284" y="1436670"/>
            <a:ext cx="7250135" cy="398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98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8BD23-C573-2BF7-9724-73F82D856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AFBC14-B67B-180E-10D4-96E2F37E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Outliers &amp; Variability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F13001-CEA5-4085-9FBC-7F3098F61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980651"/>
            <a:ext cx="2825087" cy="5603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Purchase Price: </a:t>
            </a:r>
          </a:p>
          <a:p>
            <a:pPr marL="571500" lvl="1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/>
              <a:t>Mean = $24</a:t>
            </a:r>
          </a:p>
          <a:p>
            <a:pPr marL="571500" lvl="1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/>
              <a:t>Max = $5,681</a:t>
            </a:r>
          </a:p>
          <a:p>
            <a:pPr marL="5715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Actual Sales Price:</a:t>
            </a:r>
          </a:p>
          <a:p>
            <a:pPr marL="571500" lvl="1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/>
              <a:t>Mean = $35</a:t>
            </a:r>
          </a:p>
          <a:p>
            <a:pPr marL="571500" lvl="1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/>
              <a:t>Max = $7,499</a:t>
            </a:r>
          </a:p>
          <a:p>
            <a:pPr marL="5715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Freight Cost:</a:t>
            </a:r>
          </a:p>
          <a:p>
            <a:pPr marL="571500" lvl="1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/>
              <a:t>Range = $0.09 to $257,032</a:t>
            </a:r>
          </a:p>
          <a:p>
            <a:pPr marL="5715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Stock Turnover: Range = 0 to 274.5</a:t>
            </a:r>
          </a:p>
          <a:p>
            <a:pPr marL="57150"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b="1" dirty="0"/>
              <a:t>Conclusion: </a:t>
            </a:r>
          </a:p>
          <a:p>
            <a:pPr marL="571500" lvl="1" indent="-285750" fontAlgn="base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/>
              <a:t>Highly skewed distributions → averages alone are misleading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A2C635-DC05-E7CE-49E7-264CFA22B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392" y="766386"/>
            <a:ext cx="7925781" cy="527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215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55365-F1BD-330A-99FA-A8BD1A943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AFDD87-B637-03D1-A6D0-A8FB38708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Correlation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9389961-B7CD-654B-1F8E-C1FB30605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66" y="827547"/>
            <a:ext cx="4026696" cy="564968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findings:</a:t>
            </a:r>
          </a:p>
          <a:p>
            <a:r>
              <a:rPr lang="en-US" dirty="0"/>
              <a:t>Purchase Quantity vs Sales Quantity: 0.999 correlation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Inventory flow is operationally efficient</a:t>
            </a:r>
          </a:p>
          <a:p>
            <a:r>
              <a:rPr lang="en-US" dirty="0"/>
              <a:t>Purchase Price vs Sales Dollars: near zero correlation</a:t>
            </a:r>
          </a:p>
          <a:p>
            <a:pPr lvl="1"/>
            <a:r>
              <a:rPr lang="en-US" dirty="0"/>
              <a:t>High prices do not guarantee higher revenue</a:t>
            </a:r>
          </a:p>
          <a:p>
            <a:r>
              <a:rPr lang="en-US" dirty="0"/>
              <a:t>Profit Margin vs Sales Price: negative correlation (–0.179)</a:t>
            </a:r>
          </a:p>
          <a:p>
            <a:pPr lvl="1"/>
            <a:r>
              <a:rPr lang="en-US" dirty="0"/>
              <a:t>Higher prices often mean tighter margins</a:t>
            </a:r>
          </a:p>
          <a:p>
            <a:r>
              <a:rPr lang="en-US" dirty="0"/>
              <a:t>Fast turnover ≠ higher profitability</a:t>
            </a: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5A1CB7-C1C6-6A04-A412-82252FF55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3762" y="827547"/>
            <a:ext cx="7154893" cy="538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3441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E6F0-BF98-182D-3299-6D4582BB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B60663-EDDF-D39B-D588-09756E55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Brand Pricing Opportunity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C1AB72-92CF-AD8E-4D2A-02CABDAE4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957943"/>
            <a:ext cx="3385251" cy="5649685"/>
          </a:xfrm>
        </p:spPr>
        <p:txBody>
          <a:bodyPr/>
          <a:lstStyle/>
          <a:p>
            <a:r>
              <a:rPr lang="en-US" b="1" dirty="0"/>
              <a:t>Low Sales + High Margin Brands</a:t>
            </a:r>
            <a:endParaRPr lang="en-US" dirty="0"/>
          </a:p>
          <a:p>
            <a:r>
              <a:rPr lang="en-US" dirty="0"/>
              <a:t>Bottom 15% in sales, top 15% in margin</a:t>
            </a:r>
          </a:p>
          <a:p>
            <a:r>
              <a:rPr lang="en-US" dirty="0"/>
              <a:t>Profitable per unit but weak demand</a:t>
            </a:r>
          </a:p>
          <a:p>
            <a:r>
              <a:rPr lang="en-US" dirty="0"/>
              <a:t>Actionable insight:</a:t>
            </a:r>
          </a:p>
          <a:p>
            <a:pPr lvl="1"/>
            <a:r>
              <a:rPr lang="en-US" dirty="0"/>
              <a:t>Promotions or repositioning can unlock volume </a:t>
            </a:r>
            <a:r>
              <a:rPr lang="en-US" b="1" dirty="0"/>
              <a:t>without killing margin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A4F4A8-25BC-E87E-030A-281DFA6AB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2870" y="957943"/>
            <a:ext cx="7320173" cy="4755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42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0EA3E-F17F-661F-A9C8-332FD88B0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352E38-92B6-0675-456C-04ED948D2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1"/>
            <a:ext cx="10353761" cy="1319121"/>
          </a:xfrm>
        </p:spPr>
        <p:txBody>
          <a:bodyPr>
            <a:normAutofit/>
          </a:bodyPr>
          <a:lstStyle/>
          <a:p>
            <a:r>
              <a:rPr lang="en-US" dirty="0"/>
              <a:t>Vendor Dependency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32420EB-4BC5-1B54-A9A9-5D415F91D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6" y="1569492"/>
            <a:ext cx="3931160" cy="4221708"/>
          </a:xfrm>
        </p:spPr>
        <p:txBody>
          <a:bodyPr/>
          <a:lstStyle/>
          <a:p>
            <a:r>
              <a:rPr lang="en-US" dirty="0"/>
              <a:t>Top 10 vendors = ~65.7% of total purchase dollars</a:t>
            </a:r>
          </a:p>
          <a:p>
            <a:r>
              <a:rPr lang="en-US" dirty="0"/>
              <a:t>Strong dependency on few suppliers</a:t>
            </a:r>
          </a:p>
          <a:p>
            <a:r>
              <a:rPr lang="en-US" dirty="0"/>
              <a:t>Risk:</a:t>
            </a:r>
          </a:p>
          <a:p>
            <a:pPr lvl="1"/>
            <a:r>
              <a:rPr lang="en-US" dirty="0"/>
              <a:t>Supply chain disruption</a:t>
            </a:r>
          </a:p>
          <a:p>
            <a:pPr lvl="1"/>
            <a:r>
              <a:rPr lang="en-US" dirty="0"/>
              <a:t>Negotiation leverage imbalance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E5878C2-F92A-CD91-16B9-D18090BA8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187" y="1271286"/>
            <a:ext cx="6220693" cy="431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756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7DE64-4412-F260-6C43-BE8EB58E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E58E1F-FA50-DBFA-CC8A-775405AEF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755" y="848478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Bulk Purchasing Impact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B0FB0B1-CF2F-E570-E663-BFB56A7C81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2327" y="1599743"/>
            <a:ext cx="3025084" cy="41225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Order Size vs Unit Purchase Price: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Small orders: $39.06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Large orders: $10.78</a:t>
            </a:r>
          </a:p>
          <a:p>
            <a:pPr marR="0" lvl="0" fontAlgn="base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/>
              <a:t>~72% unit cost reduction</a:t>
            </a:r>
          </a:p>
          <a:p>
            <a:pPr lvl="1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/>
              <a:t>Clear evidence that bulk buying improves margins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30E91F-F422-80E1-0DD0-A56A3A354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3636" y="1449230"/>
            <a:ext cx="6969810" cy="442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7904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53EDA-E3F1-E8AA-A22F-CB846C2F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13AD60-5CF5-AC22-ED2D-167220281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Profit Margin Comparison (Statistical Analysis)</a:t>
            </a: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3929B89-1372-322C-2825-57CB2AE544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612" y="1207505"/>
            <a:ext cx="3262421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95% Confidence Intervals: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Top-selling vendors: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30.74% – 31.61%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Low-selling vendors: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40.48% – 42.62%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Two-sample t-test: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/>
              <a:t>Statistically significant difference (p &lt; 0.0001)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volume ≠ high margin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FB5063-324E-9038-DF68-667A9D81F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992" y="1076383"/>
            <a:ext cx="7791669" cy="457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1939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69D5-02C0-CD7C-B545-656DDA94F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B69381-EB47-76E3-EF72-F5773BAB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Key Conclusions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5603F-73CB-753E-5F38-C4A5079FDFFD}"/>
              </a:ext>
            </a:extLst>
          </p:cNvPr>
          <p:cNvSpPr txBox="1"/>
          <p:nvPr/>
        </p:nvSpPr>
        <p:spPr>
          <a:xfrm>
            <a:off x="1510350" y="1296537"/>
            <a:ext cx="9598927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Vendor performance is </a:t>
            </a:r>
            <a:r>
              <a:rPr lang="en-US" altLang="en-US" sz="2800" b="1" dirty="0">
                <a:latin typeface="Arial" panose="020B0604020202020204" pitchFamily="34" charset="0"/>
              </a:rPr>
              <a:t>highly skewed</a:t>
            </a:r>
            <a:r>
              <a:rPr lang="en-US" altLang="en-US" sz="2800" dirty="0">
                <a:latin typeface="Arial" panose="020B0604020202020204" pitchFamily="34" charset="0"/>
              </a:rPr>
              <a:t>: a small number of vendors drive most sales and purchases.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Profitability and sales volume are inversely related</a:t>
            </a:r>
            <a:r>
              <a:rPr lang="en-US" altLang="en-US" sz="2800" dirty="0">
                <a:latin typeface="Arial" panose="020B0604020202020204" pitchFamily="34" charset="0"/>
              </a:rPr>
              <a:t>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Arial" panose="020B0604020202020204" pitchFamily="34" charset="0"/>
              </a:rPr>
              <a:t>High-volume vendors operate on tighter margins.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Arial" panose="020B0604020202020204" pitchFamily="34" charset="0"/>
              </a:rPr>
              <a:t>Low-volume vendors often sell high-margin niche products.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Inventory inefficiencies are costly</a:t>
            </a:r>
            <a:r>
              <a:rPr lang="en-US" altLang="en-US" sz="2800" dirty="0">
                <a:latin typeface="Arial" panose="020B0604020202020204" pitchFamily="34" charset="0"/>
              </a:rPr>
              <a:t>: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Arial" panose="020B0604020202020204" pitchFamily="34" charset="0"/>
              </a:rPr>
              <a:t>$2.71M locked in unsold inventory.</a:t>
            </a:r>
          </a:p>
          <a:p>
            <a:pPr marL="800100" lvl="1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>
                <a:latin typeface="Arial" panose="020B0604020202020204" pitchFamily="34" charset="0"/>
              </a:rPr>
              <a:t>Several vendors show Stock Turnover &lt; 1.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Bulk purchasing is a proven cost lever</a:t>
            </a:r>
            <a:r>
              <a:rPr lang="en-US" altLang="en-US" sz="2800" dirty="0">
                <a:latin typeface="Arial" panose="020B0604020202020204" pitchFamily="34" charset="0"/>
              </a:rPr>
              <a:t>: Large orders reduce unit costs by ~72%.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425722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881EA-B8A2-3D38-2B4D-FDB02BA1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6EBA5A-E69D-44C2-81B9-C834F947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354187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Short-Term Actions (0–3 Months)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D34426-3D9D-4E97-EC27-0275FE982E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458510"/>
            <a:ext cx="9840036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Low-Sales, High-Margin Brands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 focused promotions, discounts, or bundle offers.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 increase volume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sacrificing margin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Purchases from Low-Turnover Vendors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Freeze or cap orders where Stock Turnover &lt; 1.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slow-moving stock through markdowns or channel transfers.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Renegotiate Freight &amp; Logistics Costs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Investigate extreme freight outliers.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Consolidate shipments where possible.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Rebalance Inventory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replenishment for top-selling SKUs.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 exposure to low-velocity products.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84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BF81F-622B-271B-5C76-C368D5E8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120DD0-E837-3C1E-DB23-33490B01E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Recommendations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68E903-C955-863F-B226-5DCF748ADC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0227" y="1516585"/>
            <a:ext cx="9471546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 not treat all vendors equally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performance varies drastically.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on: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Volume efficiency for top vendors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Growth activation for high-margin, low-volume vendors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effectLst/>
                <a:latin typeface="Arial" panose="020B0604020202020204" pitchFamily="34" charset="0"/>
              </a:rPr>
              <a:t>Use inventory turnover and unsold value as early warning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dirty="0">
                <a:effectLst/>
                <a:latin typeface="Arial" panose="020B0604020202020204" pitchFamily="34" charset="0"/>
              </a:rPr>
              <a:t>Combine descriptive, diagnostic, and statistical analysis for confident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20024442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78C5F-BFE6-23C6-7AE8-71AF94E36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B3F838-2BCB-FBB8-9603-E1EDBAAA2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0372"/>
            <a:ext cx="10353761" cy="457200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D5EB4-EF89-B7A2-9B35-3111116EB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2659" y="1271843"/>
            <a:ext cx="8530457" cy="4951538"/>
          </a:xfrm>
        </p:spPr>
        <p:txBody>
          <a:bodyPr/>
          <a:lstStyle/>
          <a:p>
            <a:r>
              <a:rPr lang="en-US" sz="2400" b="1" dirty="0"/>
              <a:t>This analysis demonstrates that: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Revenue, profitability, and inventory efficiency are </a:t>
            </a:r>
            <a:r>
              <a:rPr lang="en-US" b="1" dirty="0"/>
              <a:t>distinct dimensions</a:t>
            </a:r>
            <a:r>
              <a:rPr lang="en-US" dirty="0"/>
              <a:t>.</a:t>
            </a:r>
          </a:p>
          <a:p>
            <a:r>
              <a:rPr lang="en-US" sz="2400" b="1" dirty="0"/>
              <a:t>Data-driven vendor segmentation enables: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Better capital utilization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Higher profitability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Reduced inventory risk</a:t>
            </a:r>
          </a:p>
          <a:p>
            <a:r>
              <a:rPr lang="en-US" sz="2400" b="1" dirty="0"/>
              <a:t>By acting on these insights, Bibitor LLC can: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Improve working capital efficiency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Strengthen supplier relationships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/>
              <a:t>Drive sustainable, profitable growth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323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37849-AB52-5196-7493-37CA7BE5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301922"/>
            <a:ext cx="10353761" cy="1326321"/>
          </a:xfrm>
        </p:spPr>
        <p:txBody>
          <a:bodyPr/>
          <a:lstStyle/>
          <a:p>
            <a:r>
              <a:rPr lang="en-US" i="1" spc="2000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729038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98</TotalTime>
  <Words>786</Words>
  <Application>Microsoft Office PowerPoint</Application>
  <PresentationFormat>Widescreen</PresentationFormat>
  <Paragraphs>135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Bookman Old Style</vt:lpstr>
      <vt:lpstr>Rockwell</vt:lpstr>
      <vt:lpstr>Wingdings</vt:lpstr>
      <vt:lpstr>Damask</vt:lpstr>
      <vt:lpstr>Vendor Performance Optimization Analysis</vt:lpstr>
      <vt:lpstr>Business Problem &amp; Objective</vt:lpstr>
      <vt:lpstr>Data Overview</vt:lpstr>
      <vt:lpstr>Key Metrics Engineered</vt:lpstr>
      <vt:lpstr>Initial Data Insights (EDA)</vt:lpstr>
      <vt:lpstr>Outliers &amp; Variability</vt:lpstr>
      <vt:lpstr>Correlation Analysis</vt:lpstr>
      <vt:lpstr>Brand Pricing Opportunity</vt:lpstr>
      <vt:lpstr>Vendor Dependency</vt:lpstr>
      <vt:lpstr>Bulk Purchasing Impact</vt:lpstr>
      <vt:lpstr>Profit Margin Comparison (Statistical Analysis)</vt:lpstr>
      <vt:lpstr>Key Conclusions</vt:lpstr>
      <vt:lpstr>Short-Term Actions (0–3 Months)</vt:lpstr>
      <vt:lpstr>Final Recommendations</vt:lpstr>
      <vt:lpstr>Final Conclusion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 Ahmed</dc:creator>
  <cp:lastModifiedBy>Anis Ahmed</cp:lastModifiedBy>
  <cp:revision>1</cp:revision>
  <dcterms:created xsi:type="dcterms:W3CDTF">2026-02-01T19:48:37Z</dcterms:created>
  <dcterms:modified xsi:type="dcterms:W3CDTF">2026-02-01T21:27:30Z</dcterms:modified>
</cp:coreProperties>
</file>